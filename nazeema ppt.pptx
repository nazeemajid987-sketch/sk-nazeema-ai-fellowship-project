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custDataLst>
    <p:tags r:id="rId18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84" d="100"/>
          <a:sy n="84" d="100"/>
        </p:scale>
        <p:origin x="780" y="68"/>
      </p:cViewPr>
      <p:guideLst>
        <p:guide orient="horz" pos="612"/>
        <p:guide orient="horz" pos="852"/>
        <p:guide pos="1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gs" Target="tags/tag38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tags" Target="../tags/tag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id="5" name="Group 8"/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/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/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pic>
        <p:nvPicPr>
          <p:cNvPr id="8" name="Picture 7" descr="A black and white logo&#10;&#10;AI-generated content may be incorrect.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4.xml"/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5.xml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21.xml"/><Relationship Id="rId14" Type="http://schemas.openxmlformats.org/officeDocument/2006/relationships/tags" Target="../tags/tag20.xml"/><Relationship Id="rId13" Type="http://schemas.openxmlformats.org/officeDocument/2006/relationships/tags" Target="../tags/tag19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33.xml"/><Relationship Id="rId14" Type="http://schemas.openxmlformats.org/officeDocument/2006/relationships/image" Target="../media/image16.png"/><Relationship Id="rId13" Type="http://schemas.openxmlformats.org/officeDocument/2006/relationships/image" Target="../media/image15.png"/><Relationship Id="rId12" Type="http://schemas.openxmlformats.org/officeDocument/2006/relationships/image" Target="../media/image14.png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4.xml"/><Relationship Id="rId1" Type="http://schemas.openxmlformats.org/officeDocument/2006/relationships/hyperlink" Target="https://drive.google.com/file/d/16InB1mO5MSW9D01p7EYqyuckGuR9NJt-/view?usp=sharing" TargetMode="Externa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5.xml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36.xml"/><Relationship Id="rId1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/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/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/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/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/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/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21132" y="817245"/>
            <a:ext cx="3475712" cy="3475712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/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/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/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/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5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  <a:endParaRPr lang="en-US" sz="1400" b="1" spc="583" dirty="0">
                <a:solidFill>
                  <a:srgbClr val="FFFFFF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pic>
        <p:nvPicPr>
          <p:cNvPr id="50" name="Picture 49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5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  <a:endParaRPr lang="en-US" sz="1000" dirty="0">
              <a:latin typeface="Arial" panose="020B0604020202020204" pitchFamily="34" charset="0"/>
              <a:ea typeface="Aileron"/>
              <a:cs typeface="Arial" panose="020B0604020202020204" pitchFamily="34" charset="0"/>
              <a:sym typeface="Ailero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3176086" y="3803810"/>
            <a:ext cx="2272871" cy="260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40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nazeemajid987@gmail.com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1" name="Picture 50" descr="A blue circle with a person and a envelope in it&#10;&#10;AI-generated content may be incorrect."/>
          <p:cNvPicPr>
            <a:picLocks noChangeAspect="1"/>
          </p:cNvPicPr>
          <p:nvPr/>
        </p:nvPicPr>
        <p:blipFill>
          <a:blip r:embed="rId3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/>
          <p:cNvGrpSpPr/>
          <p:nvPr/>
        </p:nvGrpSpPr>
        <p:grpSpPr>
          <a:xfrm>
            <a:off x="860459" y="4337076"/>
            <a:ext cx="2272871" cy="422569"/>
            <a:chOff x="3139699" y="4295282"/>
            <a:chExt cx="2272871" cy="422569"/>
          </a:xfrm>
        </p:grpSpPr>
        <p:sp>
          <p:nvSpPr>
            <p:cNvPr id="67" name="TextBox 41"/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5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  <a:endPara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endParaRPr>
            </a:p>
          </p:txBody>
        </p:sp>
        <p:sp>
          <p:nvSpPr>
            <p:cNvPr id="68" name="TextBox 43"/>
            <p:cNvSpPr txBox="1"/>
            <p:nvPr/>
          </p:nvSpPr>
          <p:spPr>
            <a:xfrm>
              <a:off x="3139699" y="4456866"/>
              <a:ext cx="2272871" cy="260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40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umamaheshwari</a:t>
              </a:r>
              <a:endPara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endParaRPr>
            </a:p>
          </p:txBody>
        </p:sp>
      </p:grpSp>
      <p:pic>
        <p:nvPicPr>
          <p:cNvPr id="71" name="Picture 70"/>
          <p:cNvPicPr>
            <a:picLocks noChangeAspect="1"/>
          </p:cNvPicPr>
          <p:nvPr/>
        </p:nvPicPr>
        <p:blipFill>
          <a:blip r:embed="rId4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/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/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2" name="Shape 8"/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3" name="Shape 9"/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sp>
        <p:nvSpPr>
          <p:cNvPr id="39" name="Shape 9"/>
          <p:cNvSpPr/>
          <p:nvPr/>
        </p:nvSpPr>
        <p:spPr>
          <a:xfrm rot="18195971">
            <a:off x="6735713" y="2905668"/>
            <a:ext cx="1872046" cy="116269"/>
          </a:xfrm>
          <a:prstGeom prst="rect">
            <a:avLst/>
          </a:prstGeom>
          <a:solidFill>
            <a:srgbClr val="4FC3F7"/>
          </a:solidFill>
        </p:spPr>
        <p:txBody>
          <a:bodyPr/>
          <a:lstStyle/>
          <a:p>
            <a:endParaRPr lang="en-IN"/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7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  <p:sp>
        <p:nvSpPr>
          <p:cNvPr id="26" name="Text Box 25"/>
          <p:cNvSpPr txBox="1"/>
          <p:nvPr/>
        </p:nvSpPr>
        <p:spPr>
          <a:xfrm>
            <a:off x="824865" y="38398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/>
              <a:t>sk nazeema</a:t>
            </a:r>
            <a:endParaRPr lang="en-US" altLang="en-GB"/>
          </a:p>
        </p:txBody>
      </p:sp>
    </p:spTree>
    <p:custDataLst>
      <p:tags r:id="rId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  <a:endParaRPr lang="en-IN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pic>
        <p:nvPicPr>
          <p:cNvPr id="25" name="Picture 24" descr="A screen shot of a computer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5240" y="1082801"/>
            <a:ext cx="5002346" cy="3651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 lang="en-US" altLang="en-GB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This project analyzes tourism booking data to improve business decision-making.</a:t>
            </a:r>
            <a:endParaRPr lang="en-US" altLang="en-GB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 lang="en-US" altLang="en-GB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dataset contains around 1500 tourism booking records.</a:t>
            </a:r>
            <a:endParaRPr lang="en-US" altLang="en-GB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 lang="en-US" altLang="en-GB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Microsoft Excel is used for data cleaning and analysis.</a:t>
            </a:r>
            <a:endParaRPr lang="en-US" altLang="en-GB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 lang="en-US" altLang="en-GB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Power BI is used to create dashboards and visual reports.</a:t>
            </a:r>
            <a:endParaRPr lang="en-US" altLang="en-GB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 lang="en-US" altLang="en-GB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Microsoft Copilot helps generate AI insights.</a:t>
            </a:r>
            <a:endParaRPr lang="en-US" altLang="en-GB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indent="0">
              <a:spcAft>
                <a:spcPts val="800"/>
              </a:spcAft>
              <a:buFont typeface="Arial" panose="020B0604020202020204" pitchFamily="34" charset="0"/>
              <a:buNone/>
              <a:tabLst>
                <a:tab pos="4229100" algn="ctr"/>
              </a:tabLst>
            </a:pPr>
            <a:r>
              <a:rPr lang="en-US" altLang="en-GB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The project identifies revenue trends, booking patterns, and cancellation behavior.</a:t>
            </a:r>
            <a:endParaRPr lang="en-US" altLang="en-GB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/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5240" y="1082801"/>
            <a:ext cx="4762910" cy="2994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GB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3. Problem Statement</a:t>
            </a:r>
            <a:endParaRPr lang="en-US" altLang="en-GB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GB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Tourism businesses often face high booking cancellations.</a:t>
            </a:r>
            <a:endParaRPr lang="en-US" altLang="en-GB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GB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Many businesses do not analyze their booking data properly.</a:t>
            </a:r>
            <a:endParaRPr lang="en-US" altLang="en-GB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GB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Lack of analytics leads to poor pricing and revenue loss.</a:t>
            </a:r>
            <a:endParaRPr lang="en-US" altLang="en-GB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altLang="en-GB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Managers cannot easily identify customer behavior and booking trends.</a:t>
            </a:r>
            <a:endParaRPr lang="en-US" altLang="en-GB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3" name="Text Box 2"/>
          <p:cNvSpPr txBox="1"/>
          <p:nvPr/>
        </p:nvSpPr>
        <p:spPr>
          <a:xfrm>
            <a:off x="426085" y="1056005"/>
            <a:ext cx="2727960" cy="26689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endParaRPr lang="en-US" altLang="en-GB"/>
          </a:p>
          <a:p>
            <a:r>
              <a:rPr lang="en-US" altLang="en-GB"/>
              <a:t>Use Excel to clean and validate booking data.</a:t>
            </a:r>
            <a:endParaRPr lang="en-US" altLang="en-GB"/>
          </a:p>
          <a:p>
            <a:r>
              <a:rPr lang="en-US" altLang="en-GB"/>
              <a:t>Use Power BI to create dashboards and visualizations.</a:t>
            </a:r>
            <a:endParaRPr lang="en-US" altLang="en-GB"/>
          </a:p>
          <a:p>
            <a:r>
              <a:rPr lang="en-US" altLang="en-GB"/>
              <a:t>Use Copilot AI to generate insights and recommendations.</a:t>
            </a:r>
            <a:endParaRPr lang="en-US" altLang="en-GB"/>
          </a:p>
          <a:p>
            <a:r>
              <a:rPr lang="en-US" altLang="en-GB"/>
              <a:t>Provide clear reports for business decision-making.</a:t>
            </a:r>
            <a:endParaRPr lang="en-GB" altLang="en-US"/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>
            <p:custDataLst>
              <p:tags r:id="rId2"/>
            </p:custDataLst>
          </p:nvPr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>
            <p:custDataLst>
              <p:tags r:id="rId7"/>
            </p:custDataLst>
          </p:nvPr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Microsoft excel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>
            <p:custDataLst>
              <p:tags r:id="rId11"/>
            </p:custDataLst>
          </p:nvPr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>
            <p:custDataLst>
              <p:tags r:id="rId12"/>
            </p:custDataLst>
          </p:nvPr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>
            <p:custDataLst>
              <p:tags r:id="rId14"/>
            </p:custDataLst>
          </p:nvPr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Interactive dashboard and business insights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326390" y="1700530"/>
            <a:ext cx="3402965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GB"/>
              <a:t>Tourism booking data set</a:t>
            </a:r>
            <a:endParaRPr lang="en-US" altLang="en-GB"/>
          </a:p>
        </p:txBody>
      </p:sp>
      <p:sp>
        <p:nvSpPr>
          <p:cNvPr id="23" name="Text Box 22"/>
          <p:cNvSpPr txBox="1"/>
          <p:nvPr/>
        </p:nvSpPr>
        <p:spPr>
          <a:xfrm>
            <a:off x="4972685" y="17005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GB"/>
              <a:t>Excel  formulas and power BI</a:t>
            </a:r>
            <a:endParaRPr lang="en-US" altLang="en-GB"/>
          </a:p>
        </p:txBody>
      </p:sp>
    </p:spTree>
    <p:custDataLst>
      <p:tags r:id="rId1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alt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411480" y="2825223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>
            <p:custDataLst>
              <p:tags r:id="rId5"/>
            </p:custDataLst>
          </p:nvPr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>
            <p:custDataLst>
              <p:tags r:id="rId6"/>
            </p:custDataLst>
          </p:nvPr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>
            <p:custDataLst>
              <p:tags r:id="rId7"/>
            </p:custDataLst>
          </p:nvPr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>
            <p:custDataLst>
              <p:tags r:id="rId8"/>
            </p:custDataLst>
          </p:nvPr>
        </p:nvSpPr>
        <p:spPr>
          <a:xfrm>
            <a:off x="6876669" y="182349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>
            <p:custDataLst>
              <p:tags r:id="rId9"/>
            </p:custDataLst>
          </p:nvPr>
        </p:nvSpPr>
        <p:spPr>
          <a:xfrm>
            <a:off x="6405245" y="2279650"/>
            <a:ext cx="2547620" cy="25984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>
            <p:custDataLst>
              <p:tags r:id="rId10"/>
            </p:custDataLst>
          </p:nvPr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>
            <p:custDataLst>
              <p:tags r:id="rId11"/>
            </p:custDataLst>
          </p:nvPr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00" y="2200275"/>
            <a:ext cx="3089275" cy="26784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1040" y="2202180"/>
            <a:ext cx="2924810" cy="267652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66815" y="2197100"/>
            <a:ext cx="2795270" cy="265176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8412480" cy="384048"/>
          </a:xfrm>
          <a:prstGeom prst="rect">
            <a:avLst/>
          </a:prstGeom>
          <a:solidFill>
            <a:srgbClr val="E0E0E0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777240"/>
            <a:ext cx="5029200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r>
              <a:rPr lang="en-IN" sz="800">
                <a:hlinkClick r:id="rId1"/>
              </a:rPr>
              <a:t>https://drive.google.com/file/d/16InB1mO5MSW9D01p7EYqyuckGuR9NJt-/view?usp=sharing</a:t>
            </a:r>
            <a:r>
              <a:rPr lang="en-IN" sz="800"/>
              <a:t> </a:t>
            </a:r>
            <a:endParaRPr lang="en-IN" sz="800" dirty="0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[https://your-project-demo-link.com]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[Insert your project demo video.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07D8B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</a:rPr>
              <a:t>You can embed a video your live project.]</a:t>
            </a:r>
            <a:endParaRPr lang="en-US" sz="1100" dirty="0"/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4446513" cy="34747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altLang="en-GB" dirty="0">
                <a:latin typeface="Lato" panose="020F0502020204030203" pitchFamily="34" charset="0"/>
                <a:cs typeface="Arial" panose="020B0604020202020204" pitchFamily="34" charset="0"/>
              </a:rPr>
              <a:t>The project shows that Excel, Power BI, and Copilot can transform raw data into useful insights.</a:t>
            </a:r>
            <a:endParaRPr lang="en-US" altLang="en-GB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GB" dirty="0">
                <a:latin typeface="Lato" panose="020F0502020204030203" pitchFamily="34" charset="0"/>
                <a:cs typeface="Arial" panose="020B0604020202020204" pitchFamily="34" charset="0"/>
              </a:rPr>
              <a:t>Businesses can use these insights to improve pricing strategies and reduce cancellations.</a:t>
            </a:r>
            <a:endParaRPr lang="en-US" altLang="en-GB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GB" dirty="0">
                <a:latin typeface="Lato" panose="020F0502020204030203" pitchFamily="34" charset="0"/>
                <a:cs typeface="Arial" panose="020B0604020202020204" pitchFamily="34" charset="0"/>
              </a:rPr>
              <a:t>Data analytics helps tourism businesses make faster and smarter decisions.</a:t>
            </a:r>
            <a:endParaRPr lang="en-US" altLang="en-GB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/>
          <p:cNvPicPr>
            <a:picLocks noChangeAspect="1"/>
          </p:cNvPicPr>
          <p:nvPr/>
        </p:nvPicPr>
        <p:blipFill>
          <a:blip r:embed="rId1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1300" y="879475"/>
            <a:ext cx="5013325" cy="462407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endParaRPr lang="en-US" altLang="en-GB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GB" dirty="0">
                <a:latin typeface="Lato" panose="020F0502020204030203" pitchFamily="34" charset="0"/>
                <a:cs typeface="Arial" panose="020B0604020202020204" pitchFamily="34" charset="0"/>
              </a:rPr>
              <a:t>Integrate real-time booking data.</a:t>
            </a:r>
            <a:endParaRPr lang="en-US" altLang="en-GB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GB" dirty="0">
                <a:latin typeface="Lato" panose="020F0502020204030203" pitchFamily="34" charset="0"/>
                <a:cs typeface="Arial" panose="020B0604020202020204" pitchFamily="34" charset="0"/>
              </a:rPr>
              <a:t>Use AI forecasting for demand prediction.</a:t>
            </a:r>
            <a:endParaRPr lang="en-US" altLang="en-GB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GB" dirty="0">
                <a:latin typeface="Lato" panose="020F0502020204030203" pitchFamily="34" charset="0"/>
                <a:cs typeface="Arial" panose="020B0604020202020204" pitchFamily="34" charset="0"/>
              </a:rPr>
              <a:t>Add customer behavior analysis using machine learning.</a:t>
            </a:r>
            <a:endParaRPr lang="en-US" altLang="en-GB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en-GB" dirty="0">
                <a:latin typeface="Lato" panose="020F0502020204030203" pitchFamily="34" charset="0"/>
                <a:cs typeface="Arial" panose="020B0604020202020204" pitchFamily="34" charset="0"/>
              </a:rPr>
              <a:t>Develop automated business dashboards.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anose="020F0502020204030204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 panose="020F0502020204030204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5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  <a:endParaRPr lang="en-US" sz="5000" b="1" dirty="0">
              <a:solidFill>
                <a:srgbClr val="0D358D"/>
              </a:solidFill>
              <a:latin typeface="Lato" panose="020F0502020204030203" pitchFamily="34" charset="0"/>
              <a:ea typeface="Aileron Ultra-Bold"/>
              <a:cs typeface="Arial" panose="020B0604020202020204" pitchFamily="34" charset="0"/>
              <a:sym typeface="Aileron Ultra-Bold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ARTICULATE_SLIDE_THUMBNAIL_REFRESH" val="1"/>
</p:tagLst>
</file>

<file path=ppt/tags/tag2.xml><?xml version="1.0" encoding="utf-8"?>
<p:tagLst xmlns:p="http://schemas.openxmlformats.org/presentationml/2006/main">
  <p:tag name="ARTICULATE_SLIDE_THUMBNAIL_REFRESH" val="1"/>
</p:tagLst>
</file>

<file path=ppt/tags/tag3.xml><?xml version="1.0" encoding="utf-8"?>
<p:tagLst xmlns:p="http://schemas.openxmlformats.org/presentationml/2006/main">
  <p:tag name="ARTICULATE_SLIDE_THUMBNAIL_REFRESH" val="1"/>
</p:tagLst>
</file>

<file path=ppt/tags/tag4.xml><?xml version="1.0" encoding="utf-8"?>
<p:tagLst xmlns:p="http://schemas.openxmlformats.org/presentationml/2006/main">
  <p:tag name="ARTICULATE_SLIDE_THUMBNAIL_REFRESH" val="1"/>
</p:tagLst>
</file>

<file path=ppt/tags/tag5.xml><?xml version="1.0" encoding="utf-8"?>
<p:tagLst xmlns:p="http://schemas.openxmlformats.org/presentationml/2006/main">
  <p:tag name="ARTICULATE_SLIDE_THUMBNAIL_REFRESH" val="1"/>
</p:tagLst>
</file>

<file path=ppt/tags/tag6.xml><?xml version="1.0" encoding="utf-8"?>
<p:tagLst xmlns:p="http://schemas.openxmlformats.org/presentationml/2006/main">
  <p:tag name="ARTICULATE_SLIDE_THUMBNAIL_REFRESH" val="1"/>
</p:tagLst>
</file>

<file path=ppt/tags/tag7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8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9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0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1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2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3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4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5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6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7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8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19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20.xml><?xml version="1.0" encoding="utf-8"?>
<p:tagLst xmlns:p="http://schemas.openxmlformats.org/presentationml/2006/main">
  <p:tag name="KSO_WM_DIAGRAM_VIRTUALLY_FRAME" val="{&quot;height&quot;:265.55716535433066,&quot;left&quot;:18.536062992125984,&quot;top&quot;:97.88976377952756,&quot;width&quot;:684}"/>
</p:tagLst>
</file>

<file path=ppt/tags/tag21.xml><?xml version="1.0" encoding="utf-8"?>
<p:tagLst xmlns:p="http://schemas.openxmlformats.org/presentationml/2006/main">
  <p:tag name="ARTICULATE_SLIDE_THUMBNAIL_REFRESH" val="1"/>
</p:tagLst>
</file>

<file path=ppt/tags/tag22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3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4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5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6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7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8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29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0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1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2.xml><?xml version="1.0" encoding="utf-8"?>
<p:tagLst xmlns:p="http://schemas.openxmlformats.org/presentationml/2006/main">
  <p:tag name="KSO_WM_DIAGRAM_VIRTUALLY_FRAME" val="{&quot;height&quot;:252.28362204724408,&quot;left&quot;:21.6,&quot;top&quot;:129.7824409448819,&quot;width&quot;:683.28}"/>
</p:tagLst>
</file>

<file path=ppt/tags/tag33.xml><?xml version="1.0" encoding="utf-8"?>
<p:tagLst xmlns:p="http://schemas.openxmlformats.org/presentationml/2006/main">
  <p:tag name="ARTICULATE_SLIDE_THUMBNAIL_REFRESH" val="1"/>
</p:tagLst>
</file>

<file path=ppt/tags/tag34.xml><?xml version="1.0" encoding="utf-8"?>
<p:tagLst xmlns:p="http://schemas.openxmlformats.org/presentationml/2006/main">
  <p:tag name="ARTICULATE_SLIDE_THUMBNAIL_REFRESH" val="1"/>
</p:tagLst>
</file>

<file path=ppt/tags/tag35.xml><?xml version="1.0" encoding="utf-8"?>
<p:tagLst xmlns:p="http://schemas.openxmlformats.org/presentationml/2006/main">
  <p:tag name="ARTICULATE_SLIDE_THUMBNAIL_REFRESH" val="1"/>
</p:tagLst>
</file>

<file path=ppt/tags/tag36.xml><?xml version="1.0" encoding="utf-8"?>
<p:tagLst xmlns:p="http://schemas.openxmlformats.org/presentationml/2006/main">
  <p:tag name="ARTICULATE_SLIDE_THUMBNAIL_REFRESH" val="1"/>
</p:tagLst>
</file>

<file path=ppt/tags/tag37.xml><?xml version="1.0" encoding="utf-8"?>
<p:tagLst xmlns:p="http://schemas.openxmlformats.org/presentationml/2006/main">
  <p:tag name="ARTICULATE_SLIDE_THUMBNAIL_REFRESH" val="1"/>
</p:tagLst>
</file>

<file path=ppt/tags/tag38.xml><?xml version="1.0" encoding="utf-8"?>
<p:tagLst xmlns:p="http://schemas.openxmlformats.org/presentationml/2006/main">
  <p:tag name="ARTICULATE_DESIGN_ID_OFFICE THEME" val="ROGxgyxs"/>
  <p:tag name="ARTICULATE_PROJECT_OPEN" val="0"/>
  <p:tag name="ARTICULATE_SLIDE_COUNT" val="1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2201</Words>
  <Application>WPS Presentation</Application>
  <PresentationFormat>On-screen Show (16:9)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Aileron Bold</vt:lpstr>
      <vt:lpstr>Segoe Print</vt:lpstr>
      <vt:lpstr>Aileron</vt:lpstr>
      <vt:lpstr>Lato</vt:lpstr>
      <vt:lpstr>Calibri</vt:lpstr>
      <vt:lpstr>Calibri</vt:lpstr>
      <vt:lpstr>Times New Roman</vt:lpstr>
      <vt:lpstr>Calibri</vt:lpstr>
      <vt:lpstr>Calibri</vt:lpstr>
      <vt:lpstr>Aileron Ultra-Bold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creator>PptxGenJS</dc:creator>
  <dc:subject>PptxGenJS Presentation</dc:subject>
  <cp:lastModifiedBy>Nazeema Shaik</cp:lastModifiedBy>
  <cp:revision>33</cp:revision>
  <dcterms:created xsi:type="dcterms:W3CDTF">2026-02-18T09:17:00Z</dcterms:created>
  <dcterms:modified xsi:type="dcterms:W3CDTF">2026-04-11T07:20:51Z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  <property fmtid="{D5CDD505-2E9C-101B-9397-08002B2CF9AE}" pid="4" name="ICV">
    <vt:lpwstr>64321A1D35454B02AE32BCC8835930FA_13</vt:lpwstr>
  </property>
  <property fmtid="{D5CDD505-2E9C-101B-9397-08002B2CF9AE}" pid="5" name="KSOProductBuildVer">
    <vt:lpwstr>2057-12.2.0.23201</vt:lpwstr>
  </property>
</Properties>
</file>